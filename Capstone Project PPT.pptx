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3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99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66750" y="588644"/>
            <a:ext cx="821690" cy="541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04717" y="6123420"/>
            <a:ext cx="1998567" cy="5357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750" y="588644"/>
            <a:ext cx="1380489" cy="541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61A3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66750" y="6215246"/>
            <a:ext cx="7212965" cy="362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AEABAB"/>
                </a:solidFill>
                <a:latin typeface="Calibri"/>
                <a:cs typeface="Calibri"/>
              </a:defRPr>
            </a:lvl1pPr>
          </a:lstStyle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9450" y="6227946"/>
            <a:ext cx="7187565" cy="33718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ts val="1280"/>
              </a:lnSpc>
              <a:spcBef>
                <a:spcPts val="50"/>
              </a:spcBef>
            </a:pPr>
            <a:r>
              <a:rPr sz="1100" b="1" spc="-10" dirty="0">
                <a:solidFill>
                  <a:srgbClr val="AEABAB"/>
                </a:solidFill>
                <a:latin typeface="Calibri"/>
                <a:cs typeface="Calibri"/>
              </a:rPr>
              <a:t>CONFIDENTIAL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: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The</a:t>
            </a:r>
            <a:r>
              <a:rPr sz="1100" spc="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information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 this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document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belongs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Boston Institute</a:t>
            </a:r>
            <a:r>
              <a:rPr sz="1100" spc="-5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Analytics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LLC.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Any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unauthorized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 sharing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this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material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is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prohibited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subject</a:t>
            </a:r>
            <a:r>
              <a:rPr sz="11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legal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action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under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breach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 IP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confidentiality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clauses.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9550" y="914400"/>
              <a:ext cx="5153025" cy="14192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70605" y="2812161"/>
            <a:ext cx="6057900" cy="137088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400" dirty="0">
                <a:solidFill>
                  <a:schemeClr val="bg1"/>
                </a:solidFill>
              </a:rPr>
              <a:t>Fraud Detection using Machine Learning</a:t>
            </a:r>
            <a:endParaRPr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FF50E-C645-786F-2548-2583A2019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708981"/>
          </a:xfrm>
        </p:spPr>
        <p:txBody>
          <a:bodyPr/>
          <a:lstStyle/>
          <a:p>
            <a:r>
              <a:rPr lang="en-US" sz="3200" b="1" i="1" dirty="0">
                <a:solidFill>
                  <a:srgbClr val="002060"/>
                </a:solidFill>
              </a:rPr>
              <a:t>• Problem Statement</a:t>
            </a:r>
          </a:p>
          <a:p>
            <a:r>
              <a:rPr lang="en-US" sz="3200" b="1" i="1" dirty="0">
                <a:solidFill>
                  <a:srgbClr val="002060"/>
                </a:solidFill>
              </a:rPr>
              <a:t>• Dataset Overview</a:t>
            </a:r>
          </a:p>
          <a:p>
            <a:r>
              <a:rPr lang="en-US" sz="3200" b="1" i="1" dirty="0">
                <a:solidFill>
                  <a:srgbClr val="002060"/>
                </a:solidFill>
              </a:rPr>
              <a:t>• Project Pipeline</a:t>
            </a:r>
          </a:p>
          <a:p>
            <a:r>
              <a:rPr lang="en-US" sz="3200" b="1" i="1" dirty="0">
                <a:solidFill>
                  <a:srgbClr val="002060"/>
                </a:solidFill>
              </a:rPr>
              <a:t>• Exploratory Data Analysis</a:t>
            </a:r>
          </a:p>
          <a:p>
            <a:r>
              <a:rPr lang="en-US" sz="3200" b="1" i="1" dirty="0">
                <a:solidFill>
                  <a:srgbClr val="002060"/>
                </a:solidFill>
              </a:rPr>
              <a:t>• Feature Engineering</a:t>
            </a:r>
          </a:p>
          <a:p>
            <a:r>
              <a:rPr lang="en-US" sz="3200" b="1" i="1" dirty="0">
                <a:solidFill>
                  <a:srgbClr val="002060"/>
                </a:solidFill>
              </a:rPr>
              <a:t>• Model Building and Evaluation</a:t>
            </a:r>
          </a:p>
          <a:p>
            <a:r>
              <a:rPr lang="en-US" sz="3200" b="1" i="1" dirty="0">
                <a:solidFill>
                  <a:srgbClr val="002060"/>
                </a:solidFill>
              </a:rPr>
              <a:t>• Flask App Deployment</a:t>
            </a:r>
          </a:p>
          <a:p>
            <a:r>
              <a:rPr lang="en-US" sz="3200" b="1" i="1" dirty="0">
                <a:solidFill>
                  <a:srgbClr val="002060"/>
                </a:solidFill>
              </a:rPr>
              <a:t>• Financial Impact Analysis</a:t>
            </a:r>
          </a:p>
          <a:p>
            <a:r>
              <a:rPr lang="en-US" sz="3200" b="1" i="1" dirty="0">
                <a:solidFill>
                  <a:srgbClr val="002060"/>
                </a:solidFill>
              </a:rPr>
              <a:t>• Conclusion</a:t>
            </a:r>
          </a:p>
          <a:p>
            <a:endParaRPr lang="en-IN" dirty="0"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50" y="588644"/>
            <a:ext cx="5429250" cy="7553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800" spc="-10" dirty="0"/>
              <a:t>Problem Statement</a:t>
            </a:r>
            <a:endParaRPr sz="4800"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8190" y="1604717"/>
            <a:ext cx="9757410" cy="411843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r>
              <a:rPr lang="en-US" sz="4400" dirty="0"/>
              <a:t>• Fraud in mobile transactions leads to huge financial losses.</a:t>
            </a:r>
          </a:p>
          <a:p>
            <a:r>
              <a:rPr lang="en-US" sz="4400" dirty="0"/>
              <a:t>• Manual detection is slow and inefficient.</a:t>
            </a:r>
          </a:p>
          <a:p>
            <a:r>
              <a:rPr lang="en-US" sz="4400" dirty="0"/>
              <a:t>• Need a real-time, intelligent ML-based detection system</a:t>
            </a:r>
            <a:endParaRPr sz="4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94476" y="-1587"/>
            <a:ext cx="6104255" cy="6866255"/>
            <a:chOff x="6094476" y="-1587"/>
            <a:chExt cx="6104255" cy="6866255"/>
          </a:xfrm>
        </p:grpSpPr>
        <p:sp>
          <p:nvSpPr>
            <p:cNvPr id="3" name="object 3"/>
            <p:cNvSpPr/>
            <p:nvPr/>
          </p:nvSpPr>
          <p:spPr>
            <a:xfrm>
              <a:off x="6100826" y="4762"/>
              <a:ext cx="6091555" cy="6853555"/>
            </a:xfrm>
            <a:custGeom>
              <a:avLst/>
              <a:gdLst/>
              <a:ahLst/>
              <a:cxnLst/>
              <a:rect l="l" t="t" r="r" b="b"/>
              <a:pathLst>
                <a:path w="6091555" h="6853555">
                  <a:moveTo>
                    <a:pt x="6091174" y="0"/>
                  </a:moveTo>
                  <a:lnTo>
                    <a:pt x="0" y="0"/>
                  </a:lnTo>
                  <a:lnTo>
                    <a:pt x="0" y="6853237"/>
                  </a:lnTo>
                  <a:lnTo>
                    <a:pt x="6091174" y="6853237"/>
                  </a:lnTo>
                  <a:lnTo>
                    <a:pt x="6091174" y="0"/>
                  </a:lnTo>
                  <a:close/>
                </a:path>
              </a:pathLst>
            </a:custGeom>
            <a:solidFill>
              <a:srgbClr val="1D1B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100826" y="4762"/>
              <a:ext cx="6091555" cy="6853555"/>
            </a:xfrm>
            <a:custGeom>
              <a:avLst/>
              <a:gdLst/>
              <a:ahLst/>
              <a:cxnLst/>
              <a:rect l="l" t="t" r="r" b="b"/>
              <a:pathLst>
                <a:path w="6091555" h="6853555">
                  <a:moveTo>
                    <a:pt x="6091174" y="0"/>
                  </a:moveTo>
                  <a:lnTo>
                    <a:pt x="0" y="0"/>
                  </a:lnTo>
                  <a:lnTo>
                    <a:pt x="0" y="6853237"/>
                  </a:lnTo>
                </a:path>
              </a:pathLst>
            </a:custGeom>
            <a:ln w="12700">
              <a:solidFill>
                <a:srgbClr val="1D1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05950" y="6115050"/>
              <a:ext cx="1962150" cy="542925"/>
            </a:xfrm>
            <a:prstGeom prst="rect">
              <a:avLst/>
            </a:prstGeom>
          </p:spPr>
        </p:pic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BBF0F7CE-34C4-DE4D-8CD2-467A2D3ED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6750" y="588644"/>
            <a:ext cx="5276850" cy="515526"/>
          </a:xfrm>
        </p:spPr>
        <p:txBody>
          <a:bodyPr/>
          <a:lstStyle/>
          <a:p>
            <a:r>
              <a:rPr lang="en-US" dirty="0"/>
              <a:t>Dataset Overview</a:t>
            </a:r>
            <a:endParaRPr lang="en-IN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DD85638-6438-31E7-5AE6-F929C74D17B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52400" y="1371600"/>
            <a:ext cx="12039600" cy="3877985"/>
          </a:xfrm>
        </p:spPr>
        <p:txBody>
          <a:bodyPr/>
          <a:lstStyle/>
          <a:p>
            <a:r>
              <a:rPr lang="en-IN" sz="3600" dirty="0"/>
              <a:t>• Source: BIA Synthetic Mobile Money Fraud Dataset</a:t>
            </a:r>
          </a:p>
          <a:p>
            <a:r>
              <a:rPr lang="en-IN" sz="3600" dirty="0"/>
              <a:t>• Records: 6,36,262</a:t>
            </a:r>
          </a:p>
          <a:p>
            <a:r>
              <a:rPr lang="en-IN" sz="3600" dirty="0"/>
              <a:t>• Features: step, type,    amount, </a:t>
            </a:r>
            <a:r>
              <a:rPr lang="en-IN" sz="3600" dirty="0" err="1"/>
              <a:t>oldbalanceOrg</a:t>
            </a:r>
            <a:r>
              <a:rPr lang="en-IN" sz="3600" dirty="0"/>
              <a:t>, </a:t>
            </a:r>
            <a:r>
              <a:rPr lang="en-IN" sz="3600" dirty="0" err="1"/>
              <a:t>newbalanceOrig</a:t>
            </a:r>
            <a:r>
              <a:rPr lang="en-IN" sz="3600" dirty="0"/>
              <a:t>,</a:t>
            </a:r>
          </a:p>
          <a:p>
            <a:r>
              <a:rPr lang="en-IN" sz="3600" dirty="0"/>
              <a:t>  </a:t>
            </a:r>
            <a:r>
              <a:rPr lang="en-IN" sz="3600" dirty="0" err="1"/>
              <a:t>oldbalanceDest</a:t>
            </a:r>
            <a:r>
              <a:rPr lang="en-IN" sz="3600" dirty="0"/>
              <a:t>, </a:t>
            </a:r>
            <a:r>
              <a:rPr lang="en-IN" sz="3600" dirty="0" err="1"/>
              <a:t>newbalanceDest</a:t>
            </a:r>
            <a:r>
              <a:rPr lang="en-IN" sz="3600" dirty="0"/>
              <a:t>, </a:t>
            </a:r>
            <a:r>
              <a:rPr lang="en-IN" sz="3600" dirty="0" err="1"/>
              <a:t>isFraud</a:t>
            </a:r>
            <a:endParaRPr lang="en-IN" sz="3600" dirty="0"/>
          </a:p>
          <a:p>
            <a:r>
              <a:rPr lang="en-IN" sz="3600" dirty="0"/>
              <a:t>• Target Variable: </a:t>
            </a:r>
            <a:r>
              <a:rPr lang="en-IN" sz="3600" dirty="0" err="1"/>
              <a:t>isFraud</a:t>
            </a:r>
            <a:endParaRPr lang="en-IN" sz="3600" dirty="0"/>
          </a:p>
          <a:p>
            <a:endParaRPr lang="en-IN" sz="360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931" y="-8255"/>
            <a:ext cx="4128135" cy="6866255"/>
            <a:chOff x="-1586" y="-1523"/>
            <a:chExt cx="4128135" cy="6866255"/>
          </a:xfrm>
        </p:grpSpPr>
        <p:sp>
          <p:nvSpPr>
            <p:cNvPr id="3" name="object 3"/>
            <p:cNvSpPr/>
            <p:nvPr/>
          </p:nvSpPr>
          <p:spPr>
            <a:xfrm>
              <a:off x="4763" y="4826"/>
              <a:ext cx="4115435" cy="6853555"/>
            </a:xfrm>
            <a:custGeom>
              <a:avLst/>
              <a:gdLst/>
              <a:ahLst/>
              <a:cxnLst/>
              <a:rect l="l" t="t" r="r" b="b"/>
              <a:pathLst>
                <a:path w="4115435" h="6853555">
                  <a:moveTo>
                    <a:pt x="3454462" y="0"/>
                  </a:moveTo>
                  <a:lnTo>
                    <a:pt x="0" y="0"/>
                  </a:lnTo>
                  <a:lnTo>
                    <a:pt x="0" y="6853174"/>
                  </a:lnTo>
                  <a:lnTo>
                    <a:pt x="3455380" y="6853174"/>
                  </a:lnTo>
                  <a:lnTo>
                    <a:pt x="4114862" y="3428873"/>
                  </a:lnTo>
                  <a:lnTo>
                    <a:pt x="3454462" y="0"/>
                  </a:lnTo>
                  <a:close/>
                </a:path>
              </a:pathLst>
            </a:custGeom>
            <a:solidFill>
              <a:srgbClr val="1D1B5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826"/>
              <a:ext cx="4115435" cy="6853555"/>
            </a:xfrm>
            <a:custGeom>
              <a:avLst/>
              <a:gdLst/>
              <a:ahLst/>
              <a:cxnLst/>
              <a:rect l="l" t="t" r="r" b="b"/>
              <a:pathLst>
                <a:path w="4115435" h="6853555">
                  <a:moveTo>
                    <a:pt x="0" y="6853174"/>
                  </a:moveTo>
                  <a:lnTo>
                    <a:pt x="0" y="0"/>
                  </a:lnTo>
                  <a:lnTo>
                    <a:pt x="3454462" y="0"/>
                  </a:lnTo>
                  <a:lnTo>
                    <a:pt x="4114862" y="3428873"/>
                  </a:lnTo>
                  <a:lnTo>
                    <a:pt x="3455380" y="6853174"/>
                  </a:lnTo>
                </a:path>
              </a:pathLst>
            </a:custGeom>
            <a:ln w="12700">
              <a:solidFill>
                <a:srgbClr val="1D1B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66750" y="588644"/>
            <a:ext cx="3676650" cy="543097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algn="just">
              <a:lnSpc>
                <a:spcPts val="3679"/>
              </a:lnSpc>
              <a:spcBef>
                <a:spcPts val="535"/>
              </a:spcBef>
            </a:pPr>
            <a:r>
              <a:rPr lang="en-US" spc="-10" dirty="0">
                <a:solidFill>
                  <a:srgbClr val="FFFFFF"/>
                </a:solidFill>
              </a:rPr>
              <a:t>Project-Pipeline</a:t>
            </a:r>
            <a:endParaRPr spc="-10" dirty="0">
              <a:solidFill>
                <a:srgbClr val="FFFFFF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2847DC-AC1E-D202-D8F5-D4E199519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0" y="1600200"/>
            <a:ext cx="6248400" cy="2462213"/>
          </a:xfrm>
        </p:spPr>
        <p:txBody>
          <a:bodyPr/>
          <a:lstStyle/>
          <a:p>
            <a:r>
              <a:rPr lang="en-IN" sz="3200" b="1" i="1" dirty="0"/>
              <a:t>Data Loading → EDA → Feature Engineering → Model Training</a:t>
            </a:r>
          </a:p>
          <a:p>
            <a:r>
              <a:rPr lang="en-IN" sz="3200" b="1" i="1" dirty="0"/>
              <a:t>→ Evaluation → Flask App → Financial Analysis</a:t>
            </a:r>
          </a:p>
          <a:p>
            <a:endParaRPr lang="en-IN" sz="320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66750" y="588644"/>
            <a:ext cx="4591050" cy="53219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dirty="0"/>
              <a:t>Exploratory Data Analysis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50" y="1617027"/>
            <a:ext cx="8020050" cy="3475952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r>
              <a:rPr lang="en-US" sz="3200" b="1" dirty="0"/>
              <a:t>• Imbalance in fraud vs legit transactions</a:t>
            </a:r>
          </a:p>
          <a:p>
            <a:r>
              <a:rPr lang="en-US" sz="3200" b="1" dirty="0"/>
              <a:t>• Strong correlation between certain features</a:t>
            </a:r>
          </a:p>
          <a:p>
            <a:r>
              <a:rPr lang="en-US" sz="3200" b="1" dirty="0"/>
              <a:t>• Outliers handled during cleaning</a:t>
            </a:r>
          </a:p>
          <a:p>
            <a:r>
              <a:rPr lang="en-US" sz="3200" b="1" dirty="0"/>
              <a:t>• Types TRANSFER and CASH_OUT most fraud-prone</a:t>
            </a: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endParaRPr sz="3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309D9E-EAFE-1D2C-6266-2B4C6E2D5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6750" y="588644"/>
            <a:ext cx="5048250" cy="515526"/>
          </a:xfrm>
        </p:spPr>
        <p:txBody>
          <a:bodyPr/>
          <a:lstStyle/>
          <a:p>
            <a:r>
              <a:rPr lang="en-IN" dirty="0"/>
              <a:t>Feature Engineering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1BF87FD-56AA-5609-3DDA-E34D911A0D0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828800" y="1524000"/>
            <a:ext cx="8534400" cy="3447098"/>
          </a:xfrm>
        </p:spPr>
        <p:txBody>
          <a:bodyPr/>
          <a:lstStyle/>
          <a:p>
            <a:r>
              <a:rPr lang="en-IN" sz="2800" b="1" dirty="0"/>
              <a:t>• Dropped: </a:t>
            </a:r>
            <a:r>
              <a:rPr lang="en-IN" sz="2800" b="1" dirty="0" err="1"/>
              <a:t>nameOrig</a:t>
            </a:r>
            <a:r>
              <a:rPr lang="en-IN" sz="2800" b="1" dirty="0"/>
              <a:t>, </a:t>
            </a:r>
            <a:r>
              <a:rPr lang="en-IN" sz="2800" b="1" dirty="0" err="1"/>
              <a:t>nameDest</a:t>
            </a:r>
            <a:r>
              <a:rPr lang="en-IN" sz="2800" b="1" dirty="0"/>
              <a:t>, </a:t>
            </a:r>
            <a:r>
              <a:rPr lang="en-IN" sz="2800" b="1" dirty="0" err="1"/>
              <a:t>isFlaggedFraud</a:t>
            </a:r>
            <a:endParaRPr lang="en-IN" sz="2800" b="1" dirty="0"/>
          </a:p>
          <a:p>
            <a:r>
              <a:rPr lang="en-IN" sz="2800" b="1" dirty="0"/>
              <a:t>• Encoded type using label encoding</a:t>
            </a:r>
          </a:p>
          <a:p>
            <a:r>
              <a:rPr lang="en-IN" sz="2800" b="1" dirty="0"/>
              <a:t>• Derived Features:</a:t>
            </a:r>
          </a:p>
          <a:p>
            <a:r>
              <a:rPr lang="en-IN" sz="2800" b="1" dirty="0"/>
              <a:t>  </a:t>
            </a:r>
            <a:r>
              <a:rPr lang="en-IN" sz="2800" b="1" dirty="0" err="1"/>
              <a:t>errorBalanceOrig</a:t>
            </a:r>
            <a:r>
              <a:rPr lang="en-IN" sz="2800" b="1" dirty="0"/>
              <a:t> = </a:t>
            </a:r>
            <a:r>
              <a:rPr lang="en-IN" sz="2800" b="1" dirty="0" err="1"/>
              <a:t>oldbalanceOrg</a:t>
            </a:r>
            <a:r>
              <a:rPr lang="en-IN" sz="2800" b="1" dirty="0"/>
              <a:t> - </a:t>
            </a:r>
            <a:r>
              <a:rPr lang="en-IN" sz="2800" b="1" dirty="0" err="1"/>
              <a:t>newbalanceOrig</a:t>
            </a:r>
            <a:r>
              <a:rPr lang="en-IN" sz="2800" b="1" dirty="0"/>
              <a:t> - amount</a:t>
            </a:r>
          </a:p>
          <a:p>
            <a:r>
              <a:rPr lang="en-IN" sz="2800" b="1" dirty="0"/>
              <a:t>  </a:t>
            </a:r>
            <a:r>
              <a:rPr lang="en-IN" sz="2800" b="1" dirty="0" err="1"/>
              <a:t>errorBalanceDest</a:t>
            </a:r>
            <a:r>
              <a:rPr lang="en-IN" sz="2800" b="1" dirty="0"/>
              <a:t> = </a:t>
            </a:r>
            <a:r>
              <a:rPr lang="en-IN" sz="2800" b="1" dirty="0" err="1"/>
              <a:t>newbalanceDest</a:t>
            </a:r>
            <a:r>
              <a:rPr lang="en-IN" sz="2800" b="1" dirty="0"/>
              <a:t> - </a:t>
            </a:r>
            <a:r>
              <a:rPr lang="en-IN" sz="2800" b="1" dirty="0" err="1"/>
              <a:t>oldbalanceDest</a:t>
            </a:r>
            <a:r>
              <a:rPr lang="en-IN" sz="2800" b="1" dirty="0"/>
              <a:t> - amount</a:t>
            </a:r>
          </a:p>
          <a:p>
            <a:endParaRPr lang="en-IN" sz="2800" b="1" dirty="0"/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50"/>
              </a:spcBef>
            </a:pPr>
            <a:r>
              <a:rPr b="1" spc="-10" dirty="0">
                <a:latin typeface="Calibri"/>
                <a:cs typeface="Calibri"/>
              </a:rPr>
              <a:t>CONFIDENTIAL</a:t>
            </a:r>
            <a:r>
              <a:rPr spc="-10" dirty="0"/>
              <a:t>: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-5" dirty="0"/>
              <a:t> </a:t>
            </a:r>
            <a:r>
              <a:rPr dirty="0"/>
              <a:t>in this</a:t>
            </a:r>
            <a:r>
              <a:rPr spc="-5" dirty="0"/>
              <a:t> </a:t>
            </a:r>
            <a:r>
              <a:rPr dirty="0"/>
              <a:t>document</a:t>
            </a:r>
            <a:r>
              <a:rPr spc="-10" dirty="0"/>
              <a:t> belongs</a:t>
            </a:r>
            <a:r>
              <a:rPr spc="-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Boston Institute</a:t>
            </a:r>
            <a:r>
              <a:rPr spc="-5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10" dirty="0"/>
              <a:t>Analytics</a:t>
            </a:r>
            <a:r>
              <a:rPr spc="-5" dirty="0"/>
              <a:t> </a:t>
            </a:r>
            <a:r>
              <a:rPr dirty="0"/>
              <a:t>LLC.</a:t>
            </a:r>
            <a:r>
              <a:rPr spc="10" dirty="0"/>
              <a:t> </a:t>
            </a:r>
            <a:r>
              <a:rPr dirty="0"/>
              <a:t>Any </a:t>
            </a:r>
            <a:r>
              <a:rPr spc="-10" dirty="0"/>
              <a:t>unauthorized</a:t>
            </a:r>
            <a:r>
              <a:rPr dirty="0"/>
              <a:t> sharing</a:t>
            </a:r>
            <a:r>
              <a:rPr spc="-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20" dirty="0"/>
              <a:t>this </a:t>
            </a:r>
            <a:r>
              <a:rPr dirty="0"/>
              <a:t>material</a:t>
            </a:r>
            <a:r>
              <a:rPr spc="1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prohibited</a:t>
            </a:r>
            <a:r>
              <a:rPr spc="-2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subject</a:t>
            </a:r>
            <a:r>
              <a:rPr spc="-3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legal</a:t>
            </a:r>
            <a:r>
              <a:rPr spc="10" dirty="0"/>
              <a:t> </a:t>
            </a:r>
            <a:r>
              <a:rPr dirty="0"/>
              <a:t>action</a:t>
            </a:r>
            <a:r>
              <a:rPr spc="-25" dirty="0"/>
              <a:t> </a:t>
            </a:r>
            <a:r>
              <a:rPr dirty="0"/>
              <a:t>under</a:t>
            </a:r>
            <a:r>
              <a:rPr spc="25" dirty="0"/>
              <a:t> </a:t>
            </a:r>
            <a:r>
              <a:rPr dirty="0"/>
              <a:t>breach</a:t>
            </a:r>
            <a:r>
              <a:rPr spc="-20" dirty="0"/>
              <a:t> </a:t>
            </a:r>
            <a:r>
              <a:rPr dirty="0"/>
              <a:t>of IP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confidentiality</a:t>
            </a:r>
            <a:r>
              <a:rPr spc="-15" dirty="0"/>
              <a:t> </a:t>
            </a:r>
            <a:r>
              <a:rPr spc="-10" dirty="0"/>
              <a:t>clauses.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69997-6099-545F-2691-F03B3078A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88644"/>
            <a:ext cx="5505450" cy="2577629"/>
          </a:xfrm>
        </p:spPr>
        <p:txBody>
          <a:bodyPr/>
          <a:lstStyle/>
          <a:p>
            <a:r>
              <a:rPr lang="en-IN" dirty="0"/>
              <a:t>Model Training &amp;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12F26-D75F-DF2E-1603-8B4FA358C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3693319"/>
          </a:xfrm>
        </p:spPr>
        <p:txBody>
          <a:bodyPr/>
          <a:lstStyle/>
          <a:p>
            <a:r>
              <a:rPr lang="en-IN" sz="4000" b="1" dirty="0"/>
              <a:t>Model              | Accuracy | ROC-AUC</a:t>
            </a:r>
          </a:p>
          <a:p>
            <a:r>
              <a:rPr lang="en-IN" sz="4000" b="1" dirty="0"/>
              <a:t>-------------------|----------|--------</a:t>
            </a:r>
          </a:p>
          <a:p>
            <a:r>
              <a:rPr lang="en-IN" sz="4000" b="1" dirty="0"/>
              <a:t>Logistic Regression | 0.97     | 0.9648</a:t>
            </a:r>
          </a:p>
          <a:p>
            <a:r>
              <a:rPr lang="en-IN" sz="4000" b="1" dirty="0"/>
              <a:t>Random Forest       | 0.99     | 0.9912</a:t>
            </a:r>
          </a:p>
          <a:p>
            <a:r>
              <a:rPr lang="en-IN" sz="4000" b="1" dirty="0" err="1"/>
              <a:t>XGBoost</a:t>
            </a:r>
            <a:r>
              <a:rPr lang="en-IN" sz="4000" b="1" dirty="0"/>
              <a:t> (Best)      | 0.99     | 0.9999 ✅</a:t>
            </a:r>
          </a:p>
          <a:p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184673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7CA6D-C308-1BFB-22E2-BEC1B5B0D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88644"/>
            <a:ext cx="3371850" cy="515526"/>
          </a:xfrm>
        </p:spPr>
        <p:txBody>
          <a:bodyPr/>
          <a:lstStyle/>
          <a:p>
            <a:r>
              <a:rPr lang="en-US" dirty="0"/>
              <a:t>Flask Deployment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425E4-9C7B-4EE7-F901-FD01551D1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3693319"/>
          </a:xfrm>
        </p:spPr>
        <p:txBody>
          <a:bodyPr/>
          <a:lstStyle/>
          <a:p>
            <a:r>
              <a:rPr lang="en-US" sz="4000" b="1" i="1" dirty="0"/>
              <a:t>• Deployed on http://localhost:5000</a:t>
            </a:r>
          </a:p>
          <a:p>
            <a:r>
              <a:rPr lang="en-US" sz="4000" b="1" i="1" dirty="0"/>
              <a:t>• User-friendly HTML form</a:t>
            </a:r>
          </a:p>
          <a:p>
            <a:r>
              <a:rPr lang="en-US" sz="4000" b="1" i="1" dirty="0"/>
              <a:t>• Accepts transaction details</a:t>
            </a:r>
          </a:p>
          <a:p>
            <a:r>
              <a:rPr lang="en-US" sz="4000" b="1" i="1" dirty="0"/>
              <a:t>• Predicts whether the transaction is fraud or not</a:t>
            </a:r>
          </a:p>
          <a:p>
            <a:r>
              <a:rPr lang="en-US" sz="4000" b="1" i="1" dirty="0"/>
              <a:t>• Displays the result instantly</a:t>
            </a:r>
          </a:p>
          <a:p>
            <a:endParaRPr lang="en-IN" sz="4000" b="1" i="1" dirty="0"/>
          </a:p>
        </p:txBody>
      </p:sp>
    </p:spTree>
    <p:extLst>
      <p:ext uri="{BB962C8B-B14F-4D97-AF65-F5344CB8AC3E}">
        <p14:creationId xmlns:p14="http://schemas.microsoft.com/office/powerpoint/2010/main" val="1349664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AA933-C32F-A845-8314-C28C86F49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88644"/>
            <a:ext cx="5124450" cy="2577629"/>
          </a:xfrm>
        </p:spPr>
        <p:txBody>
          <a:bodyPr/>
          <a:lstStyle/>
          <a:p>
            <a:r>
              <a:rPr lang="en-IN" dirty="0"/>
              <a:t>Financial Impact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65FF9-A6B5-0F29-E6A8-F9B5C0C8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954655"/>
          </a:xfrm>
        </p:spPr>
        <p:txBody>
          <a:bodyPr/>
          <a:lstStyle/>
          <a:p>
            <a:r>
              <a:rPr lang="en-IN" sz="3200" dirty="0"/>
              <a:t>• True Positives (TP): 200</a:t>
            </a:r>
          </a:p>
          <a:p>
            <a:r>
              <a:rPr lang="en-IN" sz="3200" dirty="0"/>
              <a:t>• False Positives (FP): 20</a:t>
            </a:r>
          </a:p>
          <a:p>
            <a:r>
              <a:rPr lang="en-IN" sz="3200" dirty="0"/>
              <a:t>• Estimated Savings: ₹1,00,000</a:t>
            </a:r>
          </a:p>
          <a:p>
            <a:r>
              <a:rPr lang="en-IN" sz="3200" dirty="0"/>
              <a:t>• Estimated Loss: ₹1,000</a:t>
            </a:r>
          </a:p>
          <a:p>
            <a:r>
              <a:rPr lang="en-IN" sz="3200" dirty="0"/>
              <a:t>• 💰 Net Gain: ₹99,000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56116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48124-AC4A-7DD5-7F82-4438E30C1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88644"/>
            <a:ext cx="2914650" cy="1031051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0DA94-C938-1B34-1071-2B4AA881F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954655"/>
          </a:xfrm>
        </p:spPr>
        <p:txBody>
          <a:bodyPr/>
          <a:lstStyle/>
          <a:p>
            <a:r>
              <a:rPr lang="en-US" sz="3200" b="1" dirty="0"/>
              <a:t>• Successful end-to-end ML fraud detection system</a:t>
            </a:r>
          </a:p>
          <a:p>
            <a:r>
              <a:rPr lang="en-US" sz="3200" b="1" dirty="0"/>
              <a:t>• Deployed on Flask with interactive interface</a:t>
            </a:r>
          </a:p>
          <a:p>
            <a:r>
              <a:rPr lang="en-US" sz="3200" b="1" dirty="0"/>
              <a:t>• Financially beneficial with high fraud catch rate</a:t>
            </a:r>
          </a:p>
          <a:p>
            <a:r>
              <a:rPr lang="en-US" sz="3200" b="1" dirty="0"/>
              <a:t>• Future: real-time deployment, database integration, alert automation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994302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9CE6-EFEF-3A1C-7047-FC0C9018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588644"/>
            <a:ext cx="2609850" cy="1031051"/>
          </a:xfrm>
        </p:spPr>
        <p:txBody>
          <a:bodyPr/>
          <a:lstStyle/>
          <a:p>
            <a:r>
              <a:rPr lang="en-IN" dirty="0"/>
              <a:t>Questions?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00470-3862-EF36-966B-900C82F63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3323987"/>
          </a:xfrm>
        </p:spPr>
        <p:txBody>
          <a:bodyPr/>
          <a:lstStyle/>
          <a:p>
            <a:r>
              <a:rPr lang="en-US" b="1" dirty="0"/>
              <a:t>Q1: What is the model's precision and accuracy in detecting fraudulent transactions?</a:t>
            </a:r>
            <a:br>
              <a:rPr lang="en-US" dirty="0"/>
            </a:br>
            <a:r>
              <a:rPr lang="en-US" dirty="0"/>
              <a:t>🔹 The model achieves around </a:t>
            </a:r>
            <a:r>
              <a:rPr lang="en-US" b="1" dirty="0"/>
              <a:t>99% accuracy</a:t>
            </a:r>
            <a:r>
              <a:rPr lang="en-US" dirty="0"/>
              <a:t> and </a:t>
            </a:r>
            <a:r>
              <a:rPr lang="en-US" b="1" dirty="0"/>
              <a:t>high precision</a:t>
            </a:r>
            <a:r>
              <a:rPr lang="en-US" dirty="0"/>
              <a:t> (up to </a:t>
            </a:r>
            <a:r>
              <a:rPr lang="en-US" b="1" dirty="0"/>
              <a:t>100%</a:t>
            </a:r>
            <a:r>
              <a:rPr lang="en-US" dirty="0"/>
              <a:t> with Random Forest or </a:t>
            </a:r>
            <a:r>
              <a:rPr lang="en-US" dirty="0" err="1"/>
              <a:t>XGBoost</a:t>
            </a:r>
            <a:r>
              <a:rPr lang="en-US" dirty="0"/>
              <a:t>), meaning it's excellent at correctly identifying fraud without raising too many false alarms.</a:t>
            </a:r>
          </a:p>
          <a:p>
            <a:endParaRPr lang="en-US" dirty="0"/>
          </a:p>
          <a:p>
            <a:r>
              <a:rPr lang="en-US" b="1" dirty="0"/>
              <a:t>Q2: How reliable is the model in classifying transactions as legitimate or fraudulent?</a:t>
            </a:r>
            <a:br>
              <a:rPr lang="en-US" dirty="0"/>
            </a:br>
            <a:r>
              <a:rPr lang="en-US" dirty="0"/>
              <a:t>🔹 It's very reliable — especially with the </a:t>
            </a:r>
            <a:r>
              <a:rPr lang="en-US" b="1" dirty="0" err="1"/>
              <a:t>XGBoost</a:t>
            </a:r>
            <a:r>
              <a:rPr lang="en-US" b="1" dirty="0"/>
              <a:t> model</a:t>
            </a:r>
            <a:r>
              <a:rPr lang="en-US" dirty="0"/>
              <a:t>, which reached a </a:t>
            </a:r>
            <a:r>
              <a:rPr lang="en-US" b="1" dirty="0"/>
              <a:t>ROC-AUC score of 0.9999</a:t>
            </a:r>
            <a:r>
              <a:rPr lang="en-US" dirty="0"/>
              <a:t>, indicating near-perfect distinction between fraud and legitimate transactions.</a:t>
            </a:r>
          </a:p>
          <a:p>
            <a:endParaRPr lang="en-US" dirty="0"/>
          </a:p>
          <a:p>
            <a:r>
              <a:rPr lang="en-US" b="1" dirty="0"/>
              <a:t>Q3: What are the potential losses due to model errors?</a:t>
            </a:r>
            <a:br>
              <a:rPr lang="en-US" dirty="0"/>
            </a:br>
            <a:r>
              <a:rPr lang="en-US" dirty="0"/>
              <a:t>🔹 False positives (legit transactions flagged as fraud) can lead to customer dissatisfaction or small losses (~₹50 each).</a:t>
            </a:r>
            <a:br>
              <a:rPr lang="en-US" dirty="0"/>
            </a:br>
            <a:r>
              <a:rPr lang="en-US" dirty="0"/>
              <a:t>🔹 But we estimate a </a:t>
            </a:r>
            <a:r>
              <a:rPr lang="en-US" b="1" dirty="0"/>
              <a:t>net saving of ₹99,000</a:t>
            </a:r>
            <a:r>
              <a:rPr lang="en-US" dirty="0"/>
              <a:t>, meaning the model’s benefits </a:t>
            </a:r>
            <a:r>
              <a:rPr lang="en-US" b="1" dirty="0"/>
              <a:t>greatly outweigh the risks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4968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9450" y="6227946"/>
            <a:ext cx="7187565" cy="33718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ts val="1280"/>
              </a:lnSpc>
              <a:spcBef>
                <a:spcPts val="50"/>
              </a:spcBef>
            </a:pPr>
            <a:r>
              <a:rPr sz="1100" b="1" spc="-10" dirty="0">
                <a:solidFill>
                  <a:srgbClr val="AEABAB"/>
                </a:solidFill>
                <a:latin typeface="Calibri"/>
                <a:cs typeface="Calibri"/>
              </a:rPr>
              <a:t>CONFIDENTIAL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: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The</a:t>
            </a:r>
            <a:r>
              <a:rPr sz="1100" spc="3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information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in this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document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belongs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Boston Institute</a:t>
            </a:r>
            <a:r>
              <a:rPr sz="1100" spc="-5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Analytics</a:t>
            </a:r>
            <a:r>
              <a:rPr sz="1100" spc="-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LLC.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Any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unauthorized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 sharing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this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material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is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prohibited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subject</a:t>
            </a:r>
            <a:r>
              <a:rPr sz="1100" spc="-3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legal</a:t>
            </a:r>
            <a:r>
              <a:rPr sz="1100" spc="1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action</a:t>
            </a:r>
            <a:r>
              <a:rPr sz="1100" spc="-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under</a:t>
            </a:r>
            <a:r>
              <a:rPr sz="1100" spc="2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breach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of IP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AEABAB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confidentiality</a:t>
            </a:r>
            <a:r>
              <a:rPr sz="1100" spc="-15" dirty="0">
                <a:solidFill>
                  <a:srgbClr val="AEABA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AEABAB"/>
                </a:solidFill>
                <a:latin typeface="Calibri"/>
                <a:cs typeface="Calibri"/>
              </a:rPr>
              <a:t>clauses.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4800" y="2405443"/>
            <a:ext cx="11429999" cy="27834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6000" dirty="0">
                <a:solidFill>
                  <a:srgbClr val="FFFFFF"/>
                </a:solidFill>
              </a:rPr>
              <a:t>                        </a:t>
            </a:r>
            <a:r>
              <a:rPr sz="6000" dirty="0">
                <a:solidFill>
                  <a:srgbClr val="FFFFFF"/>
                </a:solidFill>
              </a:rPr>
              <a:t>Thank</a:t>
            </a:r>
            <a:r>
              <a:rPr sz="6000" spc="-110" dirty="0">
                <a:solidFill>
                  <a:srgbClr val="FFFFFF"/>
                </a:solidFill>
              </a:rPr>
              <a:t> </a:t>
            </a:r>
            <a:r>
              <a:rPr sz="6000" spc="-470" dirty="0">
                <a:solidFill>
                  <a:srgbClr val="FFFFFF"/>
                </a:solidFill>
              </a:rPr>
              <a:t>Y</a:t>
            </a:r>
            <a:r>
              <a:rPr sz="6000" spc="15" dirty="0">
                <a:solidFill>
                  <a:srgbClr val="FFFFFF"/>
                </a:solidFill>
              </a:rPr>
              <a:t>o</a:t>
            </a:r>
            <a:r>
              <a:rPr sz="6000" spc="20" dirty="0">
                <a:solidFill>
                  <a:srgbClr val="FFFFFF"/>
                </a:solidFill>
              </a:rPr>
              <a:t>u</a:t>
            </a:r>
            <a:r>
              <a:rPr sz="6000" spc="40" dirty="0">
                <a:solidFill>
                  <a:srgbClr val="FFFFFF"/>
                </a:solidFill>
              </a:rPr>
              <a:t>!</a:t>
            </a:r>
            <a:br>
              <a:rPr lang="en-US" sz="6000" spc="40" dirty="0">
                <a:solidFill>
                  <a:srgbClr val="FFFFFF"/>
                </a:solidFill>
              </a:rPr>
            </a:br>
            <a:br>
              <a:rPr lang="en-US" sz="6000" spc="40" dirty="0">
                <a:solidFill>
                  <a:srgbClr val="FFFFFF"/>
                </a:solidFill>
              </a:rPr>
            </a:br>
            <a:endParaRPr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772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Office Theme</vt:lpstr>
      <vt:lpstr>Fraud Detection using Machine Learning</vt:lpstr>
      <vt:lpstr>Agenda</vt:lpstr>
      <vt:lpstr>Problem Statement</vt:lpstr>
      <vt:lpstr>Dataset Overview</vt:lpstr>
      <vt:lpstr>Project-Pipeline</vt:lpstr>
      <vt:lpstr>Exploratory Data Analysis</vt:lpstr>
      <vt:lpstr>Feature Engineering</vt:lpstr>
      <vt:lpstr>Model Training &amp; Evaluation</vt:lpstr>
      <vt:lpstr>Flask Deployment </vt:lpstr>
      <vt:lpstr>Financial Impact Analysis</vt:lpstr>
      <vt:lpstr>Conclusion</vt:lpstr>
      <vt:lpstr>Questions?</vt:lpstr>
      <vt:lpstr>                        Thank You!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Shreay Patil</dc:creator>
  <cp:lastModifiedBy>Shreay Patil</cp:lastModifiedBy>
  <cp:revision>1</cp:revision>
  <dcterms:created xsi:type="dcterms:W3CDTF">2025-06-22T07:22:00Z</dcterms:created>
  <dcterms:modified xsi:type="dcterms:W3CDTF">2025-06-22T08:03:28Z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2025-06-22T00:00:00Z</vt:filetime>
  </property>
  <property fmtid="{D5CDD505-2E9C-101B-9397-08002B2CF9AE}" pid="3" name="LastSaved">
    <vt:filetime>2025-06-22T00:00:00Z</vt:filetime>
  </property>
</Properties>
</file>